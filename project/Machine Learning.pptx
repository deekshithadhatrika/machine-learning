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Lst>
  <p:sldSz cx="18288000" cy="10287000"/>
  <p:notesSz cx="6858000" cy="9144000"/>
  <p:embeddedFontLst>
    <p:embeddedFont>
      <p:font typeface="Canva Sans Bold" charset="1" panose="020B0803030501040103"/>
      <p:regular r:id="rId10"/>
    </p:embeddedFont>
    <p:embeddedFont>
      <p:font typeface="Poppins Bold" charset="1" panose="00000800000000000000"/>
      <p:regular r:id="rId11"/>
    </p:embeddedFont>
    <p:embeddedFont>
      <p:font typeface="Poppins" charset="1" panose="00000500000000000000"/>
      <p:regular r:id="rId12"/>
    </p:embeddedFont>
    <p:embeddedFont>
      <p:font typeface="Poppins Bold Italics" charset="1" panose="0000080000000000000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2611945">
            <a:off x="14458950" y="4723039"/>
            <a:ext cx="7658100" cy="5426529"/>
            <a:chOff x="0" y="0"/>
            <a:chExt cx="2016948" cy="1429209"/>
          </a:xfrm>
        </p:grpSpPr>
        <p:sp>
          <p:nvSpPr>
            <p:cNvPr name="Freeform 3" id="3"/>
            <p:cNvSpPr/>
            <p:nvPr/>
          </p:nvSpPr>
          <p:spPr>
            <a:xfrm flipH="false" flipV="false" rot="0">
              <a:off x="0" y="0"/>
              <a:ext cx="2016948" cy="1429209"/>
            </a:xfrm>
            <a:custGeom>
              <a:avLst/>
              <a:gdLst/>
              <a:ahLst/>
              <a:cxnLst/>
              <a:rect r="r" b="b" t="t" l="l"/>
              <a:pathLst>
                <a:path h="1429209" w="2016948">
                  <a:moveTo>
                    <a:pt x="51558" y="0"/>
                  </a:moveTo>
                  <a:lnTo>
                    <a:pt x="1965390" y="0"/>
                  </a:lnTo>
                  <a:cubicBezTo>
                    <a:pt x="1979064" y="0"/>
                    <a:pt x="1992178" y="5432"/>
                    <a:pt x="2001847" y="15101"/>
                  </a:cubicBezTo>
                  <a:cubicBezTo>
                    <a:pt x="2011516" y="24770"/>
                    <a:pt x="2016948" y="37884"/>
                    <a:pt x="2016948" y="51558"/>
                  </a:cubicBezTo>
                  <a:lnTo>
                    <a:pt x="2016948" y="1377651"/>
                  </a:lnTo>
                  <a:cubicBezTo>
                    <a:pt x="2016948" y="1391325"/>
                    <a:pt x="2011516" y="1404439"/>
                    <a:pt x="2001847" y="1414108"/>
                  </a:cubicBezTo>
                  <a:cubicBezTo>
                    <a:pt x="1992178" y="1423777"/>
                    <a:pt x="1979064" y="1429209"/>
                    <a:pt x="1965390" y="1429209"/>
                  </a:cubicBezTo>
                  <a:lnTo>
                    <a:pt x="51558" y="1429209"/>
                  </a:lnTo>
                  <a:cubicBezTo>
                    <a:pt x="37884" y="1429209"/>
                    <a:pt x="24770" y="1423777"/>
                    <a:pt x="15101" y="1414108"/>
                  </a:cubicBezTo>
                  <a:cubicBezTo>
                    <a:pt x="5432" y="1404439"/>
                    <a:pt x="0" y="1391325"/>
                    <a:pt x="0" y="1377651"/>
                  </a:cubicBezTo>
                  <a:lnTo>
                    <a:pt x="0" y="51558"/>
                  </a:lnTo>
                  <a:cubicBezTo>
                    <a:pt x="0" y="37884"/>
                    <a:pt x="5432" y="24770"/>
                    <a:pt x="15101" y="15101"/>
                  </a:cubicBezTo>
                  <a:cubicBezTo>
                    <a:pt x="24770" y="5432"/>
                    <a:pt x="37884" y="0"/>
                    <a:pt x="51558" y="0"/>
                  </a:cubicBezTo>
                  <a:close/>
                </a:path>
              </a:pathLst>
            </a:custGeom>
            <a:solidFill>
              <a:srgbClr val="8D0000"/>
            </a:solidFill>
          </p:spPr>
        </p:sp>
        <p:sp>
          <p:nvSpPr>
            <p:cNvPr name="TextBox 4" id="4"/>
            <p:cNvSpPr txBox="true"/>
            <p:nvPr/>
          </p:nvSpPr>
          <p:spPr>
            <a:xfrm>
              <a:off x="0" y="-333375"/>
              <a:ext cx="2016948" cy="1762584"/>
            </a:xfrm>
            <a:prstGeom prst="rect">
              <a:avLst/>
            </a:prstGeom>
          </p:spPr>
          <p:txBody>
            <a:bodyPr anchor="ctr" rtlCol="false" tIns="50800" lIns="50800" bIns="50800" rIns="50800"/>
            <a:lstStyle/>
            <a:p>
              <a:pPr algn="ctr">
                <a:lnSpc>
                  <a:spcPts val="6249"/>
                </a:lnSpc>
              </a:pPr>
            </a:p>
          </p:txBody>
        </p:sp>
      </p:grpSp>
      <p:grpSp>
        <p:nvGrpSpPr>
          <p:cNvPr name="Group 5" id="5"/>
          <p:cNvGrpSpPr/>
          <p:nvPr/>
        </p:nvGrpSpPr>
        <p:grpSpPr>
          <a:xfrm rot="-2611945">
            <a:off x="-614581" y="-1866767"/>
            <a:ext cx="3031341" cy="2798456"/>
            <a:chOff x="0" y="0"/>
            <a:chExt cx="798378" cy="737042"/>
          </a:xfrm>
        </p:grpSpPr>
        <p:sp>
          <p:nvSpPr>
            <p:cNvPr name="Freeform 6" id="6"/>
            <p:cNvSpPr/>
            <p:nvPr/>
          </p:nvSpPr>
          <p:spPr>
            <a:xfrm flipH="false" flipV="false" rot="0">
              <a:off x="0" y="0"/>
              <a:ext cx="798378" cy="737042"/>
            </a:xfrm>
            <a:custGeom>
              <a:avLst/>
              <a:gdLst/>
              <a:ahLst/>
              <a:cxnLst/>
              <a:rect r="r" b="b" t="t" l="l"/>
              <a:pathLst>
                <a:path h="737042" w="798378">
                  <a:moveTo>
                    <a:pt x="130252" y="0"/>
                  </a:moveTo>
                  <a:lnTo>
                    <a:pt x="668126" y="0"/>
                  </a:lnTo>
                  <a:cubicBezTo>
                    <a:pt x="702671" y="0"/>
                    <a:pt x="735801" y="13723"/>
                    <a:pt x="760228" y="38150"/>
                  </a:cubicBezTo>
                  <a:cubicBezTo>
                    <a:pt x="784655" y="62577"/>
                    <a:pt x="798378" y="95707"/>
                    <a:pt x="798378" y="130252"/>
                  </a:cubicBezTo>
                  <a:lnTo>
                    <a:pt x="798378" y="606790"/>
                  </a:lnTo>
                  <a:cubicBezTo>
                    <a:pt x="798378" y="678726"/>
                    <a:pt x="740062" y="737042"/>
                    <a:pt x="668126" y="737042"/>
                  </a:cubicBezTo>
                  <a:lnTo>
                    <a:pt x="130252" y="737042"/>
                  </a:lnTo>
                  <a:cubicBezTo>
                    <a:pt x="58316" y="737042"/>
                    <a:pt x="0" y="678726"/>
                    <a:pt x="0" y="606790"/>
                  </a:cubicBezTo>
                  <a:lnTo>
                    <a:pt x="0" y="130252"/>
                  </a:lnTo>
                  <a:cubicBezTo>
                    <a:pt x="0" y="58316"/>
                    <a:pt x="58316" y="0"/>
                    <a:pt x="130252" y="0"/>
                  </a:cubicBezTo>
                  <a:close/>
                </a:path>
              </a:pathLst>
            </a:custGeom>
            <a:solidFill>
              <a:srgbClr val="8D0000"/>
            </a:solidFill>
          </p:spPr>
        </p:sp>
        <p:sp>
          <p:nvSpPr>
            <p:cNvPr name="TextBox 7" id="7"/>
            <p:cNvSpPr txBox="true"/>
            <p:nvPr/>
          </p:nvSpPr>
          <p:spPr>
            <a:xfrm>
              <a:off x="0" y="-333375"/>
              <a:ext cx="798378" cy="1070417"/>
            </a:xfrm>
            <a:prstGeom prst="rect">
              <a:avLst/>
            </a:prstGeom>
          </p:spPr>
          <p:txBody>
            <a:bodyPr anchor="ctr" rtlCol="false" tIns="50800" lIns="50800" bIns="50800" rIns="50800"/>
            <a:lstStyle/>
            <a:p>
              <a:pPr algn="ctr">
                <a:lnSpc>
                  <a:spcPts val="6249"/>
                </a:lnSpc>
              </a:pPr>
            </a:p>
          </p:txBody>
        </p:sp>
      </p:grpSp>
      <p:grpSp>
        <p:nvGrpSpPr>
          <p:cNvPr name="Group 8" id="8"/>
          <p:cNvGrpSpPr/>
          <p:nvPr/>
        </p:nvGrpSpPr>
        <p:grpSpPr>
          <a:xfrm rot="-2611945">
            <a:off x="12055325" y="9566947"/>
            <a:ext cx="3031341" cy="2798456"/>
            <a:chOff x="0" y="0"/>
            <a:chExt cx="798378" cy="737042"/>
          </a:xfrm>
        </p:grpSpPr>
        <p:sp>
          <p:nvSpPr>
            <p:cNvPr name="Freeform 9" id="9"/>
            <p:cNvSpPr/>
            <p:nvPr/>
          </p:nvSpPr>
          <p:spPr>
            <a:xfrm flipH="false" flipV="false" rot="0">
              <a:off x="0" y="0"/>
              <a:ext cx="798378" cy="737042"/>
            </a:xfrm>
            <a:custGeom>
              <a:avLst/>
              <a:gdLst/>
              <a:ahLst/>
              <a:cxnLst/>
              <a:rect r="r" b="b" t="t" l="l"/>
              <a:pathLst>
                <a:path h="737042" w="798378">
                  <a:moveTo>
                    <a:pt x="130252" y="0"/>
                  </a:moveTo>
                  <a:lnTo>
                    <a:pt x="668126" y="0"/>
                  </a:lnTo>
                  <a:cubicBezTo>
                    <a:pt x="702671" y="0"/>
                    <a:pt x="735801" y="13723"/>
                    <a:pt x="760228" y="38150"/>
                  </a:cubicBezTo>
                  <a:cubicBezTo>
                    <a:pt x="784655" y="62577"/>
                    <a:pt x="798378" y="95707"/>
                    <a:pt x="798378" y="130252"/>
                  </a:cubicBezTo>
                  <a:lnTo>
                    <a:pt x="798378" y="606790"/>
                  </a:lnTo>
                  <a:cubicBezTo>
                    <a:pt x="798378" y="678726"/>
                    <a:pt x="740062" y="737042"/>
                    <a:pt x="668126" y="737042"/>
                  </a:cubicBezTo>
                  <a:lnTo>
                    <a:pt x="130252" y="737042"/>
                  </a:lnTo>
                  <a:cubicBezTo>
                    <a:pt x="58316" y="737042"/>
                    <a:pt x="0" y="678726"/>
                    <a:pt x="0" y="606790"/>
                  </a:cubicBezTo>
                  <a:lnTo>
                    <a:pt x="0" y="130252"/>
                  </a:lnTo>
                  <a:cubicBezTo>
                    <a:pt x="0" y="58316"/>
                    <a:pt x="58316" y="0"/>
                    <a:pt x="130252" y="0"/>
                  </a:cubicBezTo>
                  <a:close/>
                </a:path>
              </a:pathLst>
            </a:custGeom>
            <a:solidFill>
              <a:srgbClr val="C27F7F"/>
            </a:solidFill>
          </p:spPr>
        </p:sp>
        <p:sp>
          <p:nvSpPr>
            <p:cNvPr name="TextBox 10" id="10"/>
            <p:cNvSpPr txBox="true"/>
            <p:nvPr/>
          </p:nvSpPr>
          <p:spPr>
            <a:xfrm>
              <a:off x="0" y="-333375"/>
              <a:ext cx="798378" cy="1070417"/>
            </a:xfrm>
            <a:prstGeom prst="rect">
              <a:avLst/>
            </a:prstGeom>
          </p:spPr>
          <p:txBody>
            <a:bodyPr anchor="ctr" rtlCol="false" tIns="50800" lIns="50800" bIns="50800" rIns="50800"/>
            <a:lstStyle/>
            <a:p>
              <a:pPr algn="ctr">
                <a:lnSpc>
                  <a:spcPts val="6249"/>
                </a:lnSpc>
              </a:pPr>
            </a:p>
          </p:txBody>
        </p:sp>
      </p:grpSp>
      <p:sp>
        <p:nvSpPr>
          <p:cNvPr name="AutoShape 11" id="11"/>
          <p:cNvSpPr/>
          <p:nvPr/>
        </p:nvSpPr>
        <p:spPr>
          <a:xfrm>
            <a:off x="3011342" y="6140237"/>
            <a:ext cx="8918179" cy="19050"/>
          </a:xfrm>
          <a:prstGeom prst="line">
            <a:avLst/>
          </a:prstGeom>
          <a:ln cap="flat" w="47625">
            <a:solidFill>
              <a:srgbClr val="000000"/>
            </a:solidFill>
            <a:prstDash val="sysDash"/>
            <a:headEnd type="none" len="sm" w="sm"/>
            <a:tailEnd type="none" len="sm" w="sm"/>
          </a:ln>
        </p:spPr>
      </p:sp>
      <p:grpSp>
        <p:nvGrpSpPr>
          <p:cNvPr name="Group 12" id="12"/>
          <p:cNvGrpSpPr/>
          <p:nvPr/>
        </p:nvGrpSpPr>
        <p:grpSpPr>
          <a:xfrm rot="-2611945">
            <a:off x="12744473" y="42362"/>
            <a:ext cx="8101900" cy="3702724"/>
            <a:chOff x="0" y="0"/>
            <a:chExt cx="2133834" cy="975203"/>
          </a:xfrm>
        </p:grpSpPr>
        <p:sp>
          <p:nvSpPr>
            <p:cNvPr name="Freeform 13" id="13"/>
            <p:cNvSpPr/>
            <p:nvPr/>
          </p:nvSpPr>
          <p:spPr>
            <a:xfrm flipH="false" flipV="false" rot="0">
              <a:off x="0" y="0"/>
              <a:ext cx="2133834" cy="975203"/>
            </a:xfrm>
            <a:custGeom>
              <a:avLst/>
              <a:gdLst/>
              <a:ahLst/>
              <a:cxnLst/>
              <a:rect r="r" b="b" t="t" l="l"/>
              <a:pathLst>
                <a:path h="975203" w="2133834">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C27F7F"/>
            </a:solidFill>
          </p:spPr>
        </p:sp>
        <p:sp>
          <p:nvSpPr>
            <p:cNvPr name="TextBox 14" id="14"/>
            <p:cNvSpPr txBox="true"/>
            <p:nvPr/>
          </p:nvSpPr>
          <p:spPr>
            <a:xfrm>
              <a:off x="0" y="-333375"/>
              <a:ext cx="2133834" cy="1308578"/>
            </a:xfrm>
            <a:prstGeom prst="rect">
              <a:avLst/>
            </a:prstGeom>
          </p:spPr>
          <p:txBody>
            <a:bodyPr anchor="ctr" rtlCol="false" tIns="50800" lIns="50800" bIns="50800" rIns="50800"/>
            <a:lstStyle/>
            <a:p>
              <a:pPr algn="ctr">
                <a:lnSpc>
                  <a:spcPts val="6249"/>
                </a:lnSpc>
              </a:pPr>
            </a:p>
          </p:txBody>
        </p:sp>
      </p:grpSp>
      <p:grpSp>
        <p:nvGrpSpPr>
          <p:cNvPr name="Group 15" id="15"/>
          <p:cNvGrpSpPr/>
          <p:nvPr/>
        </p:nvGrpSpPr>
        <p:grpSpPr>
          <a:xfrm rot="-2789597">
            <a:off x="3022879" y="1307360"/>
            <a:ext cx="606050" cy="530294"/>
            <a:chOff x="0" y="0"/>
            <a:chExt cx="812800" cy="711200"/>
          </a:xfrm>
        </p:grpSpPr>
        <p:sp>
          <p:nvSpPr>
            <p:cNvPr name="Freeform 16" id="16"/>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8D0000"/>
            </a:solidFill>
          </p:spPr>
        </p:sp>
        <p:sp>
          <p:nvSpPr>
            <p:cNvPr name="TextBox 17" id="17"/>
            <p:cNvSpPr txBox="true"/>
            <p:nvPr/>
          </p:nvSpPr>
          <p:spPr>
            <a:xfrm>
              <a:off x="127000" y="-3175"/>
              <a:ext cx="558800" cy="663575"/>
            </a:xfrm>
            <a:prstGeom prst="rect">
              <a:avLst/>
            </a:prstGeom>
          </p:spPr>
          <p:txBody>
            <a:bodyPr anchor="ctr" rtlCol="false" tIns="50800" lIns="50800" bIns="50800" rIns="50800"/>
            <a:lstStyle/>
            <a:p>
              <a:pPr algn="ctr">
                <a:lnSpc>
                  <a:spcPts val="6249"/>
                </a:lnSpc>
              </a:pPr>
            </a:p>
          </p:txBody>
        </p:sp>
      </p:grpSp>
      <p:sp>
        <p:nvSpPr>
          <p:cNvPr name="TextBox 18" id="18"/>
          <p:cNvSpPr txBox="true"/>
          <p:nvPr/>
        </p:nvSpPr>
        <p:spPr>
          <a:xfrm rot="0">
            <a:off x="347350" y="3098070"/>
            <a:ext cx="12106505" cy="987461"/>
          </a:xfrm>
          <a:prstGeom prst="rect">
            <a:avLst/>
          </a:prstGeom>
        </p:spPr>
        <p:txBody>
          <a:bodyPr anchor="t" rtlCol="false" tIns="0" lIns="0" bIns="0" rIns="0">
            <a:spAutoFit/>
          </a:bodyPr>
          <a:lstStyle/>
          <a:p>
            <a:pPr algn="l">
              <a:lnSpc>
                <a:spcPts val="8047"/>
              </a:lnSpc>
            </a:pPr>
            <a:r>
              <a:rPr lang="en-US" sz="5748" b="true">
                <a:solidFill>
                  <a:srgbClr val="000000"/>
                </a:solidFill>
                <a:latin typeface="Canva Sans Bold"/>
                <a:ea typeface="Canva Sans Bold"/>
                <a:cs typeface="Canva Sans Bold"/>
                <a:sym typeface="Canva Sans Bold"/>
              </a:rPr>
              <a:t>AIR QUALITY INDEX PREDICTION</a:t>
            </a:r>
          </a:p>
        </p:txBody>
      </p:sp>
      <p:sp>
        <p:nvSpPr>
          <p:cNvPr name="TextBox 19" id="19"/>
          <p:cNvSpPr txBox="true"/>
          <p:nvPr/>
        </p:nvSpPr>
        <p:spPr>
          <a:xfrm rot="0">
            <a:off x="452125" y="4256981"/>
            <a:ext cx="12535768" cy="1724558"/>
          </a:xfrm>
          <a:prstGeom prst="rect">
            <a:avLst/>
          </a:prstGeom>
        </p:spPr>
        <p:txBody>
          <a:bodyPr anchor="t" rtlCol="false" tIns="0" lIns="0" bIns="0" rIns="0">
            <a:spAutoFit/>
          </a:bodyPr>
          <a:lstStyle/>
          <a:p>
            <a:pPr algn="l">
              <a:lnSpc>
                <a:spcPts val="6384"/>
              </a:lnSpc>
            </a:pPr>
            <a:r>
              <a:rPr lang="en-US" b="true" sz="6448" spc="1315">
                <a:solidFill>
                  <a:srgbClr val="8D0000"/>
                </a:solidFill>
                <a:latin typeface="Poppins Bold"/>
                <a:ea typeface="Poppins Bold"/>
                <a:cs typeface="Poppins Bold"/>
                <a:sym typeface="Poppins Bold"/>
              </a:rPr>
              <a:t>USING RIDGE AND LASSO REGRESSION</a:t>
            </a:r>
          </a:p>
        </p:txBody>
      </p:sp>
      <p:sp>
        <p:nvSpPr>
          <p:cNvPr name="TextBox 20" id="20"/>
          <p:cNvSpPr txBox="true"/>
          <p:nvPr/>
        </p:nvSpPr>
        <p:spPr>
          <a:xfrm rot="0">
            <a:off x="3011301" y="7697574"/>
            <a:ext cx="5232878" cy="483870"/>
          </a:xfrm>
          <a:prstGeom prst="rect">
            <a:avLst/>
          </a:prstGeom>
        </p:spPr>
        <p:txBody>
          <a:bodyPr anchor="t" rtlCol="false" tIns="0" lIns="0" bIns="0" rIns="0">
            <a:spAutoFit/>
          </a:bodyPr>
          <a:lstStyle/>
          <a:p>
            <a:pPr algn="l">
              <a:lnSpc>
                <a:spcPts val="3779"/>
              </a:lnSpc>
            </a:pPr>
            <a:r>
              <a:rPr lang="en-US" sz="2699" spc="134">
                <a:solidFill>
                  <a:srgbClr val="2E2E2E"/>
                </a:solidFill>
                <a:latin typeface="Poppins"/>
                <a:ea typeface="Poppins"/>
                <a:cs typeface="Poppins"/>
                <a:sym typeface="Poppins"/>
              </a:rPr>
              <a:t>2520030216-D.Deekshitha</a:t>
            </a:r>
          </a:p>
        </p:txBody>
      </p:sp>
      <p:sp>
        <p:nvSpPr>
          <p:cNvPr name="TextBox 21" id="21"/>
          <p:cNvSpPr txBox="true"/>
          <p:nvPr/>
        </p:nvSpPr>
        <p:spPr>
          <a:xfrm rot="0">
            <a:off x="3934373" y="1275233"/>
            <a:ext cx="4471732" cy="618490"/>
          </a:xfrm>
          <a:prstGeom prst="rect">
            <a:avLst/>
          </a:prstGeom>
        </p:spPr>
        <p:txBody>
          <a:bodyPr anchor="t" rtlCol="false" tIns="0" lIns="0" bIns="0" rIns="0">
            <a:spAutoFit/>
          </a:bodyPr>
          <a:lstStyle/>
          <a:p>
            <a:pPr algn="l">
              <a:lnSpc>
                <a:spcPts val="4759"/>
              </a:lnSpc>
            </a:pPr>
            <a:r>
              <a:rPr lang="en-US" b="true" sz="3399" i="true">
                <a:solidFill>
                  <a:srgbClr val="000000"/>
                </a:solidFill>
                <a:latin typeface="Poppins Bold Italics"/>
                <a:ea typeface="Poppins Bold Italics"/>
                <a:cs typeface="Poppins Bold Italics"/>
                <a:sym typeface="Poppins Bold Italics"/>
              </a:rPr>
              <a:t>Machine Learning</a:t>
            </a:r>
          </a:p>
        </p:txBody>
      </p:sp>
      <p:grpSp>
        <p:nvGrpSpPr>
          <p:cNvPr name="Group 22" id="22"/>
          <p:cNvGrpSpPr/>
          <p:nvPr/>
        </p:nvGrpSpPr>
        <p:grpSpPr>
          <a:xfrm rot="-2789597">
            <a:off x="3271634" y="1536595"/>
            <a:ext cx="431165" cy="377270"/>
            <a:chOff x="0" y="0"/>
            <a:chExt cx="812800" cy="711200"/>
          </a:xfrm>
        </p:grpSpPr>
        <p:sp>
          <p:nvSpPr>
            <p:cNvPr name="Freeform 23" id="2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C27F7F"/>
            </a:solidFill>
          </p:spPr>
        </p:sp>
        <p:sp>
          <p:nvSpPr>
            <p:cNvPr name="TextBox 24" id="24"/>
            <p:cNvSpPr txBox="true"/>
            <p:nvPr/>
          </p:nvSpPr>
          <p:spPr>
            <a:xfrm>
              <a:off x="127000" y="-3175"/>
              <a:ext cx="558800" cy="663575"/>
            </a:xfrm>
            <a:prstGeom prst="rect">
              <a:avLst/>
            </a:prstGeom>
          </p:spPr>
          <p:txBody>
            <a:bodyPr anchor="ctr" rtlCol="false" tIns="50800" lIns="50800" bIns="50800" rIns="50800"/>
            <a:lstStyle/>
            <a:p>
              <a:pPr algn="ctr">
                <a:lnSpc>
                  <a:spcPts val="6249"/>
                </a:lnSpc>
              </a:pPr>
            </a:p>
          </p:txBody>
        </p:sp>
      </p:grpSp>
      <p:grpSp>
        <p:nvGrpSpPr>
          <p:cNvPr name="Group 25" id="25"/>
          <p:cNvGrpSpPr/>
          <p:nvPr/>
        </p:nvGrpSpPr>
        <p:grpSpPr>
          <a:xfrm rot="-2611945">
            <a:off x="10808920" y="-3972270"/>
            <a:ext cx="8101900" cy="3702724"/>
            <a:chOff x="0" y="0"/>
            <a:chExt cx="2133834" cy="975203"/>
          </a:xfrm>
        </p:grpSpPr>
        <p:sp>
          <p:nvSpPr>
            <p:cNvPr name="Freeform 26" id="26"/>
            <p:cNvSpPr/>
            <p:nvPr/>
          </p:nvSpPr>
          <p:spPr>
            <a:xfrm flipH="false" flipV="false" rot="0">
              <a:off x="0" y="0"/>
              <a:ext cx="2133834" cy="975203"/>
            </a:xfrm>
            <a:custGeom>
              <a:avLst/>
              <a:gdLst/>
              <a:ahLst/>
              <a:cxnLst/>
              <a:rect r="r" b="b" t="t" l="l"/>
              <a:pathLst>
                <a:path h="975203" w="2133834">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FFE9E9"/>
            </a:solidFill>
          </p:spPr>
        </p:sp>
        <p:sp>
          <p:nvSpPr>
            <p:cNvPr name="TextBox 27" id="27"/>
            <p:cNvSpPr txBox="true"/>
            <p:nvPr/>
          </p:nvSpPr>
          <p:spPr>
            <a:xfrm>
              <a:off x="0" y="-333375"/>
              <a:ext cx="2133834" cy="1308578"/>
            </a:xfrm>
            <a:prstGeom prst="rect">
              <a:avLst/>
            </a:prstGeom>
          </p:spPr>
          <p:txBody>
            <a:bodyPr anchor="ctr" rtlCol="false" tIns="50800" lIns="50800" bIns="50800" rIns="50800"/>
            <a:lstStyle/>
            <a:p>
              <a:pPr algn="ctr">
                <a:lnSpc>
                  <a:spcPts val="6249"/>
                </a:lnSpc>
              </a:pPr>
            </a:p>
          </p:txBody>
        </p:sp>
      </p:grpSp>
      <p:grpSp>
        <p:nvGrpSpPr>
          <p:cNvPr name="Group 28" id="28"/>
          <p:cNvGrpSpPr/>
          <p:nvPr/>
        </p:nvGrpSpPr>
        <p:grpSpPr>
          <a:xfrm rot="-2611945">
            <a:off x="-6128725" y="8307085"/>
            <a:ext cx="8101900" cy="3702724"/>
            <a:chOff x="0" y="0"/>
            <a:chExt cx="2133834" cy="975203"/>
          </a:xfrm>
        </p:grpSpPr>
        <p:sp>
          <p:nvSpPr>
            <p:cNvPr name="Freeform 29" id="29"/>
            <p:cNvSpPr/>
            <p:nvPr/>
          </p:nvSpPr>
          <p:spPr>
            <a:xfrm flipH="false" flipV="false" rot="0">
              <a:off x="0" y="0"/>
              <a:ext cx="2133834" cy="975203"/>
            </a:xfrm>
            <a:custGeom>
              <a:avLst/>
              <a:gdLst/>
              <a:ahLst/>
              <a:cxnLst/>
              <a:rect r="r" b="b" t="t" l="l"/>
              <a:pathLst>
                <a:path h="975203" w="2133834">
                  <a:moveTo>
                    <a:pt x="48734" y="0"/>
                  </a:moveTo>
                  <a:lnTo>
                    <a:pt x="2085100" y="0"/>
                  </a:lnTo>
                  <a:cubicBezTo>
                    <a:pt x="2112015" y="0"/>
                    <a:pt x="2133834" y="21819"/>
                    <a:pt x="2133834" y="48734"/>
                  </a:cubicBezTo>
                  <a:lnTo>
                    <a:pt x="2133834" y="926469"/>
                  </a:lnTo>
                  <a:cubicBezTo>
                    <a:pt x="2133834" y="953384"/>
                    <a:pt x="2112015" y="975203"/>
                    <a:pt x="2085100" y="975203"/>
                  </a:cubicBezTo>
                  <a:lnTo>
                    <a:pt x="48734" y="975203"/>
                  </a:lnTo>
                  <a:cubicBezTo>
                    <a:pt x="21819" y="975203"/>
                    <a:pt x="0" y="953384"/>
                    <a:pt x="0" y="926469"/>
                  </a:cubicBezTo>
                  <a:lnTo>
                    <a:pt x="0" y="48734"/>
                  </a:lnTo>
                  <a:cubicBezTo>
                    <a:pt x="0" y="21819"/>
                    <a:pt x="21819" y="0"/>
                    <a:pt x="48734" y="0"/>
                  </a:cubicBezTo>
                  <a:close/>
                </a:path>
              </a:pathLst>
            </a:custGeom>
            <a:solidFill>
              <a:srgbClr val="FFE9E9"/>
            </a:solidFill>
          </p:spPr>
        </p:sp>
        <p:sp>
          <p:nvSpPr>
            <p:cNvPr name="TextBox 30" id="30"/>
            <p:cNvSpPr txBox="true"/>
            <p:nvPr/>
          </p:nvSpPr>
          <p:spPr>
            <a:xfrm>
              <a:off x="0" y="-333375"/>
              <a:ext cx="2133834" cy="1308578"/>
            </a:xfrm>
            <a:prstGeom prst="rect">
              <a:avLst/>
            </a:prstGeom>
          </p:spPr>
          <p:txBody>
            <a:bodyPr anchor="ctr" rtlCol="false" tIns="50800" lIns="50800" bIns="50800" rIns="50800"/>
            <a:lstStyle/>
            <a:p>
              <a:pPr algn="ctr">
                <a:lnSpc>
                  <a:spcPts val="6249"/>
                </a:lnSpc>
              </a:pPr>
            </a:p>
          </p:txBody>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3503507">
            <a:off x="-7720970" y="1056579"/>
            <a:ext cx="12583451" cy="7382737"/>
            <a:chOff x="0" y="0"/>
            <a:chExt cx="3314160" cy="1944424"/>
          </a:xfrm>
        </p:grpSpPr>
        <p:sp>
          <p:nvSpPr>
            <p:cNvPr name="Freeform 3" id="3"/>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4" id="4"/>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sp>
        <p:nvSpPr>
          <p:cNvPr name="AutoShape 5" id="5"/>
          <p:cNvSpPr/>
          <p:nvPr/>
        </p:nvSpPr>
        <p:spPr>
          <a:xfrm>
            <a:off x="-2618758" y="4100540"/>
            <a:ext cx="8918179" cy="19050"/>
          </a:xfrm>
          <a:prstGeom prst="line">
            <a:avLst/>
          </a:prstGeom>
          <a:ln cap="flat" w="28575">
            <a:solidFill>
              <a:srgbClr val="000000"/>
            </a:solidFill>
            <a:prstDash val="solid"/>
            <a:headEnd type="none" len="sm" w="sm"/>
            <a:tailEnd type="none" len="sm" w="sm"/>
          </a:ln>
        </p:spPr>
      </p:sp>
      <p:grpSp>
        <p:nvGrpSpPr>
          <p:cNvPr name="Group 6" id="6"/>
          <p:cNvGrpSpPr/>
          <p:nvPr/>
        </p:nvGrpSpPr>
        <p:grpSpPr>
          <a:xfrm rot="0">
            <a:off x="-1753856" y="9614819"/>
            <a:ext cx="5565113" cy="672181"/>
            <a:chOff x="0" y="0"/>
            <a:chExt cx="1465709" cy="177035"/>
          </a:xfrm>
        </p:grpSpPr>
        <p:sp>
          <p:nvSpPr>
            <p:cNvPr name="Freeform 7" id="7"/>
            <p:cNvSpPr/>
            <p:nvPr/>
          </p:nvSpPr>
          <p:spPr>
            <a:xfrm flipH="false" flipV="false" rot="0">
              <a:off x="0" y="0"/>
              <a:ext cx="1465709" cy="177035"/>
            </a:xfrm>
            <a:custGeom>
              <a:avLst/>
              <a:gdLst/>
              <a:ahLst/>
              <a:cxnLst/>
              <a:rect r="r" b="b" t="t" l="l"/>
              <a:pathLst>
                <a:path h="177035" w="1465709">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name="TextBox 8" id="8"/>
            <p:cNvSpPr txBox="true"/>
            <p:nvPr/>
          </p:nvSpPr>
          <p:spPr>
            <a:xfrm>
              <a:off x="0" y="-333375"/>
              <a:ext cx="1465709" cy="510410"/>
            </a:xfrm>
            <a:prstGeom prst="rect">
              <a:avLst/>
            </a:prstGeom>
          </p:spPr>
          <p:txBody>
            <a:bodyPr anchor="ctr" rtlCol="false" tIns="50800" lIns="50800" bIns="50800" rIns="50800"/>
            <a:lstStyle/>
            <a:p>
              <a:pPr algn="ctr">
                <a:lnSpc>
                  <a:spcPts val="6249"/>
                </a:lnSpc>
              </a:pPr>
            </a:p>
          </p:txBody>
        </p:sp>
      </p:grpSp>
      <p:grpSp>
        <p:nvGrpSpPr>
          <p:cNvPr name="Group 9" id="9"/>
          <p:cNvGrpSpPr/>
          <p:nvPr/>
        </p:nvGrpSpPr>
        <p:grpSpPr>
          <a:xfrm rot="0">
            <a:off x="14476744" y="0"/>
            <a:ext cx="5565113" cy="672181"/>
            <a:chOff x="0" y="0"/>
            <a:chExt cx="1465709" cy="177035"/>
          </a:xfrm>
        </p:grpSpPr>
        <p:sp>
          <p:nvSpPr>
            <p:cNvPr name="Freeform 10" id="10"/>
            <p:cNvSpPr/>
            <p:nvPr/>
          </p:nvSpPr>
          <p:spPr>
            <a:xfrm flipH="false" flipV="false" rot="0">
              <a:off x="0" y="0"/>
              <a:ext cx="1465709" cy="177035"/>
            </a:xfrm>
            <a:custGeom>
              <a:avLst/>
              <a:gdLst/>
              <a:ahLst/>
              <a:cxnLst/>
              <a:rect r="r" b="b" t="t" l="l"/>
              <a:pathLst>
                <a:path h="177035" w="1465709">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name="TextBox 11" id="11"/>
            <p:cNvSpPr txBox="true"/>
            <p:nvPr/>
          </p:nvSpPr>
          <p:spPr>
            <a:xfrm>
              <a:off x="0" y="-333375"/>
              <a:ext cx="1465709" cy="510410"/>
            </a:xfrm>
            <a:prstGeom prst="rect">
              <a:avLst/>
            </a:prstGeom>
          </p:spPr>
          <p:txBody>
            <a:bodyPr anchor="ctr" rtlCol="false" tIns="50800" lIns="50800" bIns="50800" rIns="50800"/>
            <a:lstStyle/>
            <a:p>
              <a:pPr algn="ctr">
                <a:lnSpc>
                  <a:spcPts val="6249"/>
                </a:lnSpc>
              </a:pPr>
            </a:p>
          </p:txBody>
        </p:sp>
      </p:grpSp>
      <p:sp>
        <p:nvSpPr>
          <p:cNvPr name="TextBox 12" id="12"/>
          <p:cNvSpPr txBox="true"/>
          <p:nvPr/>
        </p:nvSpPr>
        <p:spPr>
          <a:xfrm rot="0">
            <a:off x="1840332" y="2419405"/>
            <a:ext cx="7303668" cy="1619250"/>
          </a:xfrm>
          <a:prstGeom prst="rect">
            <a:avLst/>
          </a:prstGeom>
        </p:spPr>
        <p:txBody>
          <a:bodyPr anchor="t" rtlCol="false" tIns="0" lIns="0" bIns="0" rIns="0">
            <a:spAutoFit/>
          </a:bodyPr>
          <a:lstStyle/>
          <a:p>
            <a:pPr algn="l">
              <a:lnSpc>
                <a:spcPts val="12599"/>
              </a:lnSpc>
            </a:pPr>
            <a:r>
              <a:rPr lang="en-US" b="true" sz="9000" spc="845">
                <a:solidFill>
                  <a:srgbClr val="8D0000"/>
                </a:solidFill>
                <a:latin typeface="Poppins Bold"/>
                <a:ea typeface="Poppins Bold"/>
                <a:cs typeface="Poppins Bold"/>
                <a:sym typeface="Poppins Bold"/>
              </a:rPr>
              <a:t>ABSTRACT</a:t>
            </a:r>
          </a:p>
        </p:txBody>
      </p:sp>
      <p:sp>
        <p:nvSpPr>
          <p:cNvPr name="TextBox 13" id="13"/>
          <p:cNvSpPr txBox="true"/>
          <p:nvPr/>
        </p:nvSpPr>
        <p:spPr>
          <a:xfrm rot="0">
            <a:off x="1840332" y="4700322"/>
            <a:ext cx="15198753" cy="3518535"/>
          </a:xfrm>
          <a:prstGeom prst="rect">
            <a:avLst/>
          </a:prstGeom>
        </p:spPr>
        <p:txBody>
          <a:bodyPr anchor="t" rtlCol="false" tIns="0" lIns="0" bIns="0" rIns="0">
            <a:spAutoFit/>
          </a:bodyPr>
          <a:lstStyle/>
          <a:p>
            <a:pPr algn="just" marL="0" indent="0" lvl="0">
              <a:lnSpc>
                <a:spcPts val="3104"/>
              </a:lnSpc>
              <a:spcBef>
                <a:spcPct val="0"/>
              </a:spcBef>
            </a:pPr>
            <a:r>
              <a:rPr lang="en-US" sz="2299" spc="71">
                <a:solidFill>
                  <a:srgbClr val="2B2B2B"/>
                </a:solidFill>
                <a:latin typeface="Poppins"/>
                <a:ea typeface="Poppins"/>
                <a:cs typeface="Poppins"/>
                <a:sym typeface="Poppins"/>
              </a:rPr>
              <a:t>Air pollution is a major environmental and public health concern, making accurate Air Quality Index (AQI) prediction important for timely preventive action. This project develops a Machine Learning-based AQI prediction system using historical air-quality and meteorological data, including PM2.5, PM10, NO₂, SO₂, CO, O₃, temperature, humidity, and wind speed. Ridge and Lasso Regression are applied to handle multicollinearity and reduce overfitting through regularization. The data is preprocessed and scaled before model training, and the models are tuned using different alpha values. Their performance is evaluated using MAE, RMSE, and R² to identify the better-performing model. Finally, the selected model can be deployed through a REST API for real-time AQI prediction.</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3503507">
            <a:off x="-7720970" y="1056579"/>
            <a:ext cx="12583451" cy="7382737"/>
            <a:chOff x="0" y="0"/>
            <a:chExt cx="3314160" cy="1944424"/>
          </a:xfrm>
        </p:grpSpPr>
        <p:sp>
          <p:nvSpPr>
            <p:cNvPr name="Freeform 3" id="3"/>
            <p:cNvSpPr/>
            <p:nvPr/>
          </p:nvSpPr>
          <p:spPr>
            <a:xfrm flipH="false" flipV="false" rot="0">
              <a:off x="0" y="0"/>
              <a:ext cx="3314160" cy="1944425"/>
            </a:xfrm>
            <a:custGeom>
              <a:avLst/>
              <a:gdLst/>
              <a:ahLst/>
              <a:cxnLst/>
              <a:rect r="r" b="b" t="t" l="l"/>
              <a:pathLst>
                <a:path h="1944425" w="3314160">
                  <a:moveTo>
                    <a:pt x="31378" y="0"/>
                  </a:moveTo>
                  <a:lnTo>
                    <a:pt x="3282783" y="0"/>
                  </a:lnTo>
                  <a:cubicBezTo>
                    <a:pt x="3300112" y="0"/>
                    <a:pt x="3314160" y="14048"/>
                    <a:pt x="3314160" y="31378"/>
                  </a:cubicBezTo>
                  <a:lnTo>
                    <a:pt x="3314160" y="1913047"/>
                  </a:lnTo>
                  <a:cubicBezTo>
                    <a:pt x="3314160" y="1930376"/>
                    <a:pt x="3300112" y="1944425"/>
                    <a:pt x="3282783" y="1944425"/>
                  </a:cubicBezTo>
                  <a:lnTo>
                    <a:pt x="31378" y="1944425"/>
                  </a:lnTo>
                  <a:cubicBezTo>
                    <a:pt x="14048" y="1944425"/>
                    <a:pt x="0" y="1930376"/>
                    <a:pt x="0" y="1913047"/>
                  </a:cubicBezTo>
                  <a:lnTo>
                    <a:pt x="0" y="31378"/>
                  </a:lnTo>
                  <a:cubicBezTo>
                    <a:pt x="0" y="14048"/>
                    <a:pt x="14048" y="0"/>
                    <a:pt x="31378" y="0"/>
                  </a:cubicBezTo>
                  <a:close/>
                </a:path>
              </a:pathLst>
            </a:custGeom>
            <a:solidFill>
              <a:srgbClr val="FFE9E9"/>
            </a:solidFill>
          </p:spPr>
        </p:sp>
        <p:sp>
          <p:nvSpPr>
            <p:cNvPr name="TextBox 4" id="4"/>
            <p:cNvSpPr txBox="true"/>
            <p:nvPr/>
          </p:nvSpPr>
          <p:spPr>
            <a:xfrm>
              <a:off x="0" y="-333375"/>
              <a:ext cx="3314160" cy="2277799"/>
            </a:xfrm>
            <a:prstGeom prst="rect">
              <a:avLst/>
            </a:prstGeom>
          </p:spPr>
          <p:txBody>
            <a:bodyPr anchor="ctr" rtlCol="false" tIns="50800" lIns="50800" bIns="50800" rIns="50800"/>
            <a:lstStyle/>
            <a:p>
              <a:pPr algn="ctr">
                <a:lnSpc>
                  <a:spcPts val="6249"/>
                </a:lnSpc>
              </a:pPr>
            </a:p>
          </p:txBody>
        </p:sp>
      </p:grpSp>
      <p:sp>
        <p:nvSpPr>
          <p:cNvPr name="AutoShape 5" id="5"/>
          <p:cNvSpPr/>
          <p:nvPr/>
        </p:nvSpPr>
        <p:spPr>
          <a:xfrm>
            <a:off x="4395252" y="4076270"/>
            <a:ext cx="8918179" cy="19050"/>
          </a:xfrm>
          <a:prstGeom prst="line">
            <a:avLst/>
          </a:prstGeom>
          <a:ln cap="flat" w="28575">
            <a:solidFill>
              <a:srgbClr val="000000"/>
            </a:solidFill>
            <a:prstDash val="solid"/>
            <a:headEnd type="none" len="sm" w="sm"/>
            <a:tailEnd type="none" len="sm" w="sm"/>
          </a:ln>
        </p:spPr>
      </p:sp>
      <p:grpSp>
        <p:nvGrpSpPr>
          <p:cNvPr name="Group 6" id="6"/>
          <p:cNvGrpSpPr/>
          <p:nvPr/>
        </p:nvGrpSpPr>
        <p:grpSpPr>
          <a:xfrm rot="0">
            <a:off x="-1753856" y="9614819"/>
            <a:ext cx="5565113" cy="672181"/>
            <a:chOff x="0" y="0"/>
            <a:chExt cx="1465709" cy="177035"/>
          </a:xfrm>
        </p:grpSpPr>
        <p:sp>
          <p:nvSpPr>
            <p:cNvPr name="Freeform 7" id="7"/>
            <p:cNvSpPr/>
            <p:nvPr/>
          </p:nvSpPr>
          <p:spPr>
            <a:xfrm flipH="false" flipV="false" rot="0">
              <a:off x="0" y="0"/>
              <a:ext cx="1465709" cy="177035"/>
            </a:xfrm>
            <a:custGeom>
              <a:avLst/>
              <a:gdLst/>
              <a:ahLst/>
              <a:cxnLst/>
              <a:rect r="r" b="b" t="t" l="l"/>
              <a:pathLst>
                <a:path h="177035" w="1465709">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name="TextBox 8" id="8"/>
            <p:cNvSpPr txBox="true"/>
            <p:nvPr/>
          </p:nvSpPr>
          <p:spPr>
            <a:xfrm>
              <a:off x="0" y="-333375"/>
              <a:ext cx="1465709" cy="510410"/>
            </a:xfrm>
            <a:prstGeom prst="rect">
              <a:avLst/>
            </a:prstGeom>
          </p:spPr>
          <p:txBody>
            <a:bodyPr anchor="ctr" rtlCol="false" tIns="50800" lIns="50800" bIns="50800" rIns="50800"/>
            <a:lstStyle/>
            <a:p>
              <a:pPr algn="ctr">
                <a:lnSpc>
                  <a:spcPts val="6249"/>
                </a:lnSpc>
              </a:pPr>
            </a:p>
          </p:txBody>
        </p:sp>
      </p:grpSp>
      <p:grpSp>
        <p:nvGrpSpPr>
          <p:cNvPr name="Group 9" id="9"/>
          <p:cNvGrpSpPr/>
          <p:nvPr/>
        </p:nvGrpSpPr>
        <p:grpSpPr>
          <a:xfrm rot="0">
            <a:off x="14476744" y="0"/>
            <a:ext cx="5565113" cy="672181"/>
            <a:chOff x="0" y="0"/>
            <a:chExt cx="1465709" cy="177035"/>
          </a:xfrm>
        </p:grpSpPr>
        <p:sp>
          <p:nvSpPr>
            <p:cNvPr name="Freeform 10" id="10"/>
            <p:cNvSpPr/>
            <p:nvPr/>
          </p:nvSpPr>
          <p:spPr>
            <a:xfrm flipH="false" flipV="false" rot="0">
              <a:off x="0" y="0"/>
              <a:ext cx="1465709" cy="177035"/>
            </a:xfrm>
            <a:custGeom>
              <a:avLst/>
              <a:gdLst/>
              <a:ahLst/>
              <a:cxnLst/>
              <a:rect r="r" b="b" t="t" l="l"/>
              <a:pathLst>
                <a:path h="177035" w="1465709">
                  <a:moveTo>
                    <a:pt x="70949" y="0"/>
                  </a:moveTo>
                  <a:lnTo>
                    <a:pt x="1394760" y="0"/>
                  </a:lnTo>
                  <a:cubicBezTo>
                    <a:pt x="1433944" y="0"/>
                    <a:pt x="1465709" y="31765"/>
                    <a:pt x="1465709" y="70949"/>
                  </a:cubicBezTo>
                  <a:lnTo>
                    <a:pt x="1465709" y="106086"/>
                  </a:lnTo>
                  <a:cubicBezTo>
                    <a:pt x="1465709" y="145270"/>
                    <a:pt x="1433944" y="177035"/>
                    <a:pt x="1394760" y="177035"/>
                  </a:cubicBezTo>
                  <a:lnTo>
                    <a:pt x="70949" y="177035"/>
                  </a:lnTo>
                  <a:cubicBezTo>
                    <a:pt x="31765" y="177035"/>
                    <a:pt x="0" y="145270"/>
                    <a:pt x="0" y="106086"/>
                  </a:cubicBezTo>
                  <a:lnTo>
                    <a:pt x="0" y="70949"/>
                  </a:lnTo>
                  <a:cubicBezTo>
                    <a:pt x="0" y="31765"/>
                    <a:pt x="31765" y="0"/>
                    <a:pt x="70949" y="0"/>
                  </a:cubicBezTo>
                  <a:close/>
                </a:path>
              </a:pathLst>
            </a:custGeom>
            <a:solidFill>
              <a:srgbClr val="8D0000"/>
            </a:solidFill>
          </p:spPr>
        </p:sp>
        <p:sp>
          <p:nvSpPr>
            <p:cNvPr name="TextBox 11" id="11"/>
            <p:cNvSpPr txBox="true"/>
            <p:nvPr/>
          </p:nvSpPr>
          <p:spPr>
            <a:xfrm>
              <a:off x="0" y="-333375"/>
              <a:ext cx="1465709" cy="510410"/>
            </a:xfrm>
            <a:prstGeom prst="rect">
              <a:avLst/>
            </a:prstGeom>
          </p:spPr>
          <p:txBody>
            <a:bodyPr anchor="ctr" rtlCol="false" tIns="50800" lIns="50800" bIns="50800" rIns="50800"/>
            <a:lstStyle/>
            <a:p>
              <a:pPr algn="ctr">
                <a:lnSpc>
                  <a:spcPts val="6249"/>
                </a:lnSpc>
              </a:pPr>
            </a:p>
          </p:txBody>
        </p:sp>
      </p:grpSp>
      <p:sp>
        <p:nvSpPr>
          <p:cNvPr name="TextBox 12" id="12"/>
          <p:cNvSpPr txBox="true"/>
          <p:nvPr/>
        </p:nvSpPr>
        <p:spPr>
          <a:xfrm rot="0">
            <a:off x="1840332" y="2419405"/>
            <a:ext cx="14608917" cy="1619250"/>
          </a:xfrm>
          <a:prstGeom prst="rect">
            <a:avLst/>
          </a:prstGeom>
        </p:spPr>
        <p:txBody>
          <a:bodyPr anchor="t" rtlCol="false" tIns="0" lIns="0" bIns="0" rIns="0">
            <a:spAutoFit/>
          </a:bodyPr>
          <a:lstStyle/>
          <a:p>
            <a:pPr algn="l">
              <a:lnSpc>
                <a:spcPts val="12599"/>
              </a:lnSpc>
            </a:pPr>
            <a:r>
              <a:rPr lang="en-US" b="true" sz="9000" spc="845">
                <a:solidFill>
                  <a:srgbClr val="8D0000"/>
                </a:solidFill>
                <a:latin typeface="Poppins Bold"/>
                <a:ea typeface="Poppins Bold"/>
                <a:cs typeface="Poppins Bold"/>
                <a:sym typeface="Poppins Bold"/>
              </a:rPr>
              <a:t>PROBLEM STATEMENT</a:t>
            </a:r>
          </a:p>
        </p:txBody>
      </p:sp>
      <p:sp>
        <p:nvSpPr>
          <p:cNvPr name="TextBox 13" id="13"/>
          <p:cNvSpPr txBox="true"/>
          <p:nvPr/>
        </p:nvSpPr>
        <p:spPr>
          <a:xfrm rot="0">
            <a:off x="1840332" y="4700322"/>
            <a:ext cx="15198753" cy="3909060"/>
          </a:xfrm>
          <a:prstGeom prst="rect">
            <a:avLst/>
          </a:prstGeom>
        </p:spPr>
        <p:txBody>
          <a:bodyPr anchor="t" rtlCol="false" tIns="0" lIns="0" bIns="0" rIns="0">
            <a:spAutoFit/>
          </a:bodyPr>
          <a:lstStyle/>
          <a:p>
            <a:pPr algn="just" marL="496567" indent="-248284" lvl="1">
              <a:lnSpc>
                <a:spcPts val="3104"/>
              </a:lnSpc>
              <a:buFont typeface="Arial"/>
              <a:buChar char="•"/>
            </a:pPr>
            <a:r>
              <a:rPr lang="en-US" sz="2299" spc="71">
                <a:solidFill>
                  <a:srgbClr val="2B2B2B"/>
                </a:solidFill>
                <a:latin typeface="Poppins"/>
                <a:ea typeface="Poppins"/>
                <a:cs typeface="Poppins"/>
                <a:sym typeface="Poppins"/>
              </a:rPr>
              <a:t>Air pollution is a major environmental and public health concern, making accurate AQI prediction important.</a:t>
            </a:r>
          </a:p>
          <a:p>
            <a:pPr algn="just" marL="496567" indent="-248284" lvl="1">
              <a:lnSpc>
                <a:spcPts val="3104"/>
              </a:lnSpc>
              <a:buFont typeface="Arial"/>
              <a:buChar char="•"/>
            </a:pPr>
            <a:r>
              <a:rPr lang="en-US" sz="2299" spc="71">
                <a:solidFill>
                  <a:srgbClr val="2B2B2B"/>
                </a:solidFill>
                <a:latin typeface="Poppins"/>
                <a:ea typeface="Poppins"/>
                <a:cs typeface="Poppins"/>
                <a:sym typeface="Poppins"/>
              </a:rPr>
              <a:t>AQI depends on multiple pollutant and meteorological factors, including PM2.5, PM10, NO₂, SO₂, CO, O₃, temperature, humidity, and wind speed.</a:t>
            </a:r>
          </a:p>
          <a:p>
            <a:pPr algn="just" marL="496567" indent="-248284" lvl="1">
              <a:lnSpc>
                <a:spcPts val="3104"/>
              </a:lnSpc>
              <a:buFont typeface="Arial"/>
              <a:buChar char="•"/>
            </a:pPr>
            <a:r>
              <a:rPr lang="en-US" sz="2299" spc="71">
                <a:solidFill>
                  <a:srgbClr val="2B2B2B"/>
                </a:solidFill>
                <a:latin typeface="Poppins"/>
                <a:ea typeface="Poppins"/>
                <a:cs typeface="Poppins"/>
                <a:sym typeface="Poppins"/>
              </a:rPr>
              <a:t>These features can be highly correlated, causing multicollinearity and overfitting in ordinary linear regression.</a:t>
            </a:r>
          </a:p>
          <a:p>
            <a:pPr algn="just" marL="496567" indent="-248284" lvl="1">
              <a:lnSpc>
                <a:spcPts val="3104"/>
              </a:lnSpc>
              <a:buFont typeface="Arial"/>
              <a:buChar char="•"/>
            </a:pPr>
            <a:r>
              <a:rPr lang="en-US" sz="2299" spc="71">
                <a:solidFill>
                  <a:srgbClr val="2B2B2B"/>
                </a:solidFill>
                <a:latin typeface="Poppins"/>
                <a:ea typeface="Poppins"/>
                <a:cs typeface="Poppins"/>
                <a:sym typeface="Poppins"/>
              </a:rPr>
              <a:t>Therefore, the project aims to develop an accurate AQI prediction model using Ridge and Lasso Regression.</a:t>
            </a:r>
          </a:p>
          <a:p>
            <a:pPr algn="just" marL="496567" indent="-248284" lvl="1">
              <a:lnSpc>
                <a:spcPts val="3104"/>
              </a:lnSpc>
              <a:buFont typeface="Arial"/>
              <a:buChar char="•"/>
            </a:pPr>
            <a:r>
              <a:rPr lang="en-US" sz="2299" spc="71">
                <a:solidFill>
                  <a:srgbClr val="2B2B2B"/>
                </a:solidFill>
                <a:latin typeface="Poppins"/>
                <a:ea typeface="Poppins"/>
                <a:cs typeface="Poppins"/>
                <a:sym typeface="Poppins"/>
              </a:rPr>
              <a:t>The models are compared using MAE, RMSE, and R² to identify the better-performing model.</a:t>
            </a:r>
          </a:p>
          <a:p>
            <a:pPr algn="just" marL="0" indent="0" lvl="0">
              <a:lnSpc>
                <a:spcPts val="3104"/>
              </a:lnSpc>
              <a:spcBef>
                <a:spcPct val="0"/>
              </a:spcBef>
            </a:pP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4957323" y="4377686"/>
            <a:ext cx="8373354" cy="1122053"/>
          </a:xfrm>
          <a:prstGeom prst="rect">
            <a:avLst/>
          </a:prstGeom>
        </p:spPr>
        <p:txBody>
          <a:bodyPr anchor="t" rtlCol="false" tIns="0" lIns="0" bIns="0" rIns="0">
            <a:spAutoFit/>
          </a:bodyPr>
          <a:lstStyle/>
          <a:p>
            <a:pPr algn="ctr">
              <a:lnSpc>
                <a:spcPts val="7800"/>
              </a:lnSpc>
            </a:pPr>
            <a:r>
              <a:rPr lang="en-US" b="true" sz="7800">
                <a:solidFill>
                  <a:srgbClr val="8D0000"/>
                </a:solidFill>
                <a:latin typeface="Poppins Bold"/>
                <a:ea typeface="Poppins Bold"/>
                <a:cs typeface="Poppins Bold"/>
                <a:sym typeface="Poppins Bold"/>
              </a:rPr>
              <a:t>THANK YOU</a:t>
            </a:r>
          </a:p>
        </p:txBody>
      </p:sp>
      <p:grpSp>
        <p:nvGrpSpPr>
          <p:cNvPr name="Group 3" id="3"/>
          <p:cNvGrpSpPr/>
          <p:nvPr/>
        </p:nvGrpSpPr>
        <p:grpSpPr>
          <a:xfrm rot="-3503507">
            <a:off x="-2356457" y="6564794"/>
            <a:ext cx="5968439" cy="2484763"/>
            <a:chOff x="0" y="0"/>
            <a:chExt cx="1571935" cy="654423"/>
          </a:xfrm>
        </p:grpSpPr>
        <p:sp>
          <p:nvSpPr>
            <p:cNvPr name="Freeform 4" id="4"/>
            <p:cNvSpPr/>
            <p:nvPr/>
          </p:nvSpPr>
          <p:spPr>
            <a:xfrm flipH="false" flipV="false" rot="0">
              <a:off x="0" y="0"/>
              <a:ext cx="1571935" cy="654423"/>
            </a:xfrm>
            <a:custGeom>
              <a:avLst/>
              <a:gdLst/>
              <a:ahLst/>
              <a:cxnLst/>
              <a:rect r="r" b="b" t="t" l="l"/>
              <a:pathLst>
                <a:path h="654423" w="1571935">
                  <a:moveTo>
                    <a:pt x="66154" y="0"/>
                  </a:moveTo>
                  <a:lnTo>
                    <a:pt x="1505780" y="0"/>
                  </a:lnTo>
                  <a:cubicBezTo>
                    <a:pt x="1523326" y="0"/>
                    <a:pt x="1540152" y="6970"/>
                    <a:pt x="1552558" y="19376"/>
                  </a:cubicBezTo>
                  <a:cubicBezTo>
                    <a:pt x="1564965" y="31782"/>
                    <a:pt x="1571935" y="48609"/>
                    <a:pt x="1571935" y="66154"/>
                  </a:cubicBezTo>
                  <a:lnTo>
                    <a:pt x="1571935" y="588269"/>
                  </a:lnTo>
                  <a:cubicBezTo>
                    <a:pt x="1571935" y="624805"/>
                    <a:pt x="1542316" y="654423"/>
                    <a:pt x="1505780" y="654423"/>
                  </a:cubicBezTo>
                  <a:lnTo>
                    <a:pt x="66154" y="654423"/>
                  </a:lnTo>
                  <a:cubicBezTo>
                    <a:pt x="29618" y="654423"/>
                    <a:pt x="0" y="624805"/>
                    <a:pt x="0" y="588269"/>
                  </a:cubicBezTo>
                  <a:lnTo>
                    <a:pt x="0" y="66154"/>
                  </a:lnTo>
                  <a:cubicBezTo>
                    <a:pt x="0" y="29618"/>
                    <a:pt x="29618" y="0"/>
                    <a:pt x="66154" y="0"/>
                  </a:cubicBezTo>
                  <a:close/>
                </a:path>
              </a:pathLst>
            </a:custGeom>
            <a:solidFill>
              <a:srgbClr val="FFE9E9"/>
            </a:solidFill>
          </p:spPr>
        </p:sp>
        <p:sp>
          <p:nvSpPr>
            <p:cNvPr name="TextBox 5" id="5"/>
            <p:cNvSpPr txBox="true"/>
            <p:nvPr/>
          </p:nvSpPr>
          <p:spPr>
            <a:xfrm>
              <a:off x="0" y="-333375"/>
              <a:ext cx="1571935" cy="987798"/>
            </a:xfrm>
            <a:prstGeom prst="rect">
              <a:avLst/>
            </a:prstGeom>
          </p:spPr>
          <p:txBody>
            <a:bodyPr anchor="ctr" rtlCol="false" tIns="50800" lIns="50800" bIns="50800" rIns="50800"/>
            <a:lstStyle/>
            <a:p>
              <a:pPr algn="ctr">
                <a:lnSpc>
                  <a:spcPts val="6249"/>
                </a:lnSpc>
              </a:pPr>
            </a:p>
          </p:txBody>
        </p:sp>
      </p:grpSp>
      <p:grpSp>
        <p:nvGrpSpPr>
          <p:cNvPr name="Group 6" id="6"/>
          <p:cNvGrpSpPr/>
          <p:nvPr/>
        </p:nvGrpSpPr>
        <p:grpSpPr>
          <a:xfrm rot="-3503507">
            <a:off x="14958997" y="1874234"/>
            <a:ext cx="6145518" cy="2741564"/>
            <a:chOff x="0" y="0"/>
            <a:chExt cx="1618573" cy="722058"/>
          </a:xfrm>
        </p:grpSpPr>
        <p:sp>
          <p:nvSpPr>
            <p:cNvPr name="Freeform 7" id="7"/>
            <p:cNvSpPr/>
            <p:nvPr/>
          </p:nvSpPr>
          <p:spPr>
            <a:xfrm flipH="false" flipV="false" rot="0">
              <a:off x="0" y="0"/>
              <a:ext cx="1618573" cy="722058"/>
            </a:xfrm>
            <a:custGeom>
              <a:avLst/>
              <a:gdLst/>
              <a:ahLst/>
              <a:cxnLst/>
              <a:rect r="r" b="b" t="t" l="l"/>
              <a:pathLst>
                <a:path h="722058" w="1618573">
                  <a:moveTo>
                    <a:pt x="64248" y="0"/>
                  </a:moveTo>
                  <a:lnTo>
                    <a:pt x="1554325" y="0"/>
                  </a:lnTo>
                  <a:cubicBezTo>
                    <a:pt x="1571364" y="0"/>
                    <a:pt x="1587706" y="6769"/>
                    <a:pt x="1599755" y="18818"/>
                  </a:cubicBezTo>
                  <a:cubicBezTo>
                    <a:pt x="1611804" y="30867"/>
                    <a:pt x="1618573" y="47208"/>
                    <a:pt x="1618573" y="64248"/>
                  </a:cubicBezTo>
                  <a:lnTo>
                    <a:pt x="1618573" y="657810"/>
                  </a:lnTo>
                  <a:cubicBezTo>
                    <a:pt x="1618573" y="674850"/>
                    <a:pt x="1611804" y="691191"/>
                    <a:pt x="1599755" y="703240"/>
                  </a:cubicBezTo>
                  <a:cubicBezTo>
                    <a:pt x="1587706" y="715289"/>
                    <a:pt x="1571364" y="722058"/>
                    <a:pt x="1554325" y="722058"/>
                  </a:cubicBezTo>
                  <a:lnTo>
                    <a:pt x="64248" y="722058"/>
                  </a:lnTo>
                  <a:cubicBezTo>
                    <a:pt x="47208" y="722058"/>
                    <a:pt x="30867" y="715289"/>
                    <a:pt x="18818" y="703240"/>
                  </a:cubicBezTo>
                  <a:cubicBezTo>
                    <a:pt x="6769" y="691191"/>
                    <a:pt x="0" y="674850"/>
                    <a:pt x="0" y="657810"/>
                  </a:cubicBezTo>
                  <a:lnTo>
                    <a:pt x="0" y="64248"/>
                  </a:lnTo>
                  <a:cubicBezTo>
                    <a:pt x="0" y="47208"/>
                    <a:pt x="6769" y="30867"/>
                    <a:pt x="18818" y="18818"/>
                  </a:cubicBezTo>
                  <a:cubicBezTo>
                    <a:pt x="30867" y="6769"/>
                    <a:pt x="47208" y="0"/>
                    <a:pt x="64248" y="0"/>
                  </a:cubicBezTo>
                  <a:close/>
                </a:path>
              </a:pathLst>
            </a:custGeom>
            <a:solidFill>
              <a:srgbClr val="FFE9E9"/>
            </a:solidFill>
          </p:spPr>
        </p:sp>
        <p:sp>
          <p:nvSpPr>
            <p:cNvPr name="TextBox 8" id="8"/>
            <p:cNvSpPr txBox="true"/>
            <p:nvPr/>
          </p:nvSpPr>
          <p:spPr>
            <a:xfrm>
              <a:off x="0" y="-333375"/>
              <a:ext cx="1618573" cy="1055433"/>
            </a:xfrm>
            <a:prstGeom prst="rect">
              <a:avLst/>
            </a:prstGeom>
          </p:spPr>
          <p:txBody>
            <a:bodyPr anchor="ctr" rtlCol="false" tIns="50800" lIns="50800" bIns="50800" rIns="50800"/>
            <a:lstStyle/>
            <a:p>
              <a:pPr algn="ctr">
                <a:lnSpc>
                  <a:spcPts val="6249"/>
                </a:lnSpc>
              </a:p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DAHT03LXtl8</dc:identifier>
  <dcterms:modified xsi:type="dcterms:W3CDTF">2011-08-01T06:04:30Z</dcterms:modified>
  <cp:revision>1</cp:revision>
  <dc:title>Machine Learning</dc:title>
</cp:coreProperties>
</file>