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lexandria Bold" panose="020B0604020202020204" charset="-78"/>
      <p:regular r:id="rId13"/>
    </p:embeddedFont>
    <p:embeddedFont>
      <p:font typeface="Garet" panose="020B0604020202020204" charset="0"/>
      <p:regular r:id="rId14"/>
    </p:embeddedFont>
    <p:embeddedFont>
      <p:font typeface="Garet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048517" y="4627742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09800" y="3726244"/>
            <a:ext cx="14173200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lang="en-US" sz="9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Air Quality Index Prediction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 sz="8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Ridge and Lasso Regression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69365" y="7309759"/>
            <a:ext cx="9854640" cy="158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Team: 39 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Dhatrika Deekshitha-2520030216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19600" y="1189711"/>
            <a:ext cx="9205169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dirty="0"/>
              <a:t>Problem Definition</a:t>
            </a:r>
            <a:endParaRPr lang="en-US" sz="8177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48785" y="3204507"/>
            <a:ext cx="1619043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Problem:</a:t>
            </a:r>
            <a:r>
              <a:rPr lang="en-IN" sz="3600" dirty="0"/>
              <a:t> Predict </a:t>
            </a:r>
            <a:r>
              <a:rPr lang="en-IN" sz="3600" b="1" dirty="0"/>
              <a:t>AQI</a:t>
            </a:r>
            <a:r>
              <a:rPr lang="en-IN" sz="3600" dirty="0"/>
              <a:t> using pollutant and weather parameters such as PM2.5, PM10, NO₂, SO₂, CO, O₃, temperature, humidity and wind speed.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Why Important:</a:t>
            </a:r>
            <a:r>
              <a:rPr lang="en-IN" sz="3600" dirty="0"/>
              <a:t> Accurate AQI prediction helps </a:t>
            </a:r>
            <a:r>
              <a:rPr lang="en-IN" sz="3600" b="1" dirty="0"/>
              <a:t>citizens and authorities take timely preventive actions</a:t>
            </a:r>
            <a:r>
              <a:rPr lang="en-IN" sz="3600" dirty="0"/>
              <a:t> against air pollution.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Users:</a:t>
            </a:r>
            <a:r>
              <a:rPr lang="en-IN" sz="3600" dirty="0"/>
              <a:t> </a:t>
            </a:r>
            <a:r>
              <a:rPr lang="en-IN" sz="3600" b="1" dirty="0"/>
              <a:t>Citizens, environmental authorities and pollution-monitoring agencies.</a:t>
            </a:r>
            <a:r>
              <a:rPr lang="en-IN" sz="3600" dirty="0"/>
              <a:t>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Expected Output:</a:t>
            </a:r>
            <a:r>
              <a:rPr lang="en-IN" sz="3600" dirty="0"/>
              <a:t> A </a:t>
            </a:r>
            <a:r>
              <a:rPr lang="en-IN" sz="3600" b="1" dirty="0"/>
              <a:t>predicted AQI value</a:t>
            </a:r>
            <a:r>
              <a:rPr lang="en-IN" sz="3600" dirty="0"/>
              <a:t> from given environmental readings using </a:t>
            </a:r>
            <a:r>
              <a:rPr lang="en-IN" sz="3600" b="1" dirty="0"/>
              <a:t>Ridge/Lasso Regression</a:t>
            </a:r>
            <a:r>
              <a:rPr lang="en-IN" sz="3600" dirty="0"/>
              <a:t>, with the selected model deployable through a REST API.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20978" y="3044445"/>
            <a:ext cx="139446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Dataset Source:</a:t>
            </a:r>
            <a:r>
              <a:rPr lang="en-IN" sz="3600" dirty="0"/>
              <a:t> Kaggle – Air Quality Dataset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Dataset Type:</a:t>
            </a:r>
            <a:r>
              <a:rPr lang="en-IN" sz="3600" dirty="0"/>
              <a:t> Historical air-quality and meteorological data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Features:</a:t>
            </a:r>
            <a:r>
              <a:rPr lang="en-IN" sz="3600" dirty="0"/>
              <a:t> PM2.5, PM10, NO₂, SO₂, CO, O₃, Temperature, Humidity, Wind Speed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Target Column:</a:t>
            </a:r>
            <a:r>
              <a:rPr lang="en-IN" sz="3600" dirty="0"/>
              <a:t> </a:t>
            </a:r>
            <a:r>
              <a:rPr lang="en-IN" sz="3600" b="1" dirty="0"/>
              <a:t>AQI (Air Quality Index)</a:t>
            </a:r>
            <a:r>
              <a:rPr lang="en-IN" sz="3600" dirty="0"/>
              <a:t>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Dataset Preparation:</a:t>
            </a:r>
            <a:r>
              <a:rPr lang="en-IN" sz="3600" dirty="0"/>
              <a:t> Dataset downloaded and loaded using </a:t>
            </a:r>
            <a:r>
              <a:rPr lang="en-IN" sz="3600" b="1" dirty="0"/>
              <a:t>Pandas</a:t>
            </a:r>
            <a:r>
              <a:rPr lang="en-IN" sz="3600" dirty="0"/>
              <a:t> for analysis and preprocessing.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Dataset Size:</a:t>
            </a:r>
            <a:r>
              <a:rPr lang="en-IN" sz="3600" dirty="0"/>
              <a:t> </a:t>
            </a:r>
            <a:r>
              <a:rPr lang="en-IN" sz="3600" b="1" dirty="0"/>
              <a:t>[Number of Rows] rows × [Number of Columns] columns</a:t>
            </a:r>
            <a:r>
              <a:rPr lang="en-IN" sz="3600" dirty="0"/>
              <a:t>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Purpose:</a:t>
            </a:r>
            <a:r>
              <a:rPr lang="en-IN" sz="3600" dirty="0"/>
              <a:t> Use historical environmental data to train Ridge and Lasso Regression models for </a:t>
            </a:r>
            <a:r>
              <a:rPr lang="en-IN" sz="3600" b="1" dirty="0"/>
              <a:t>AQI prediction</a:t>
            </a:r>
            <a:r>
              <a:rPr lang="en-IN" sz="3600" dirty="0"/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41415" y="1169276"/>
            <a:ext cx="9205169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dirty="0"/>
              <a:t>Dataset Collection</a:t>
            </a:r>
            <a:endParaRPr lang="en-US" sz="8177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9920" y="1046989"/>
            <a:ext cx="9205169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dirty="0"/>
              <a:t>Data Understanding</a:t>
            </a:r>
            <a:endParaRPr lang="en-US" sz="8177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372043" y="2824231"/>
            <a:ext cx="14478000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Records:</a:t>
            </a:r>
            <a:r>
              <a:rPr lang="en-IN" sz="3600" dirty="0"/>
              <a:t> </a:t>
            </a:r>
            <a:r>
              <a:rPr lang="en-IN" sz="3600" dirty="0" err="1"/>
              <a:t>Analyze</a:t>
            </a:r>
            <a:r>
              <a:rPr lang="en-IN" sz="3600" dirty="0"/>
              <a:t> the total number of rows in the dataset.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Features:</a:t>
            </a:r>
            <a:r>
              <a:rPr lang="en-IN" sz="3600" dirty="0"/>
              <a:t> PM2.5, PM10, NO₂, SO₂, CO, O₃, Temperature, Humidity &amp; Wind Speed.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Data Types:</a:t>
            </a:r>
            <a:r>
              <a:rPr lang="en-IN" sz="3600" dirty="0"/>
              <a:t> Check numerical and categorical data types using </a:t>
            </a:r>
            <a:r>
              <a:rPr lang="en-IN" dirty="0"/>
              <a:t>df.info()</a:t>
            </a:r>
            <a:r>
              <a:rPr lang="en-IN" sz="3600" dirty="0"/>
              <a:t>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Missing Values:</a:t>
            </a:r>
            <a:r>
              <a:rPr lang="en-IN" sz="3600" dirty="0"/>
              <a:t> Identify null/missing values in each feature.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Duplicate Values:</a:t>
            </a:r>
            <a:r>
              <a:rPr lang="en-IN" sz="3600" dirty="0"/>
              <a:t> Check and remove duplicate records if present.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Unique Values:</a:t>
            </a:r>
            <a:r>
              <a:rPr lang="en-IN" sz="3600" dirty="0"/>
              <a:t> </a:t>
            </a:r>
            <a:r>
              <a:rPr lang="en-IN" sz="3600" dirty="0" err="1"/>
              <a:t>Analyze</a:t>
            </a:r>
            <a:r>
              <a:rPr lang="en-IN" sz="3600" dirty="0"/>
              <a:t> unique values in important features.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Statistical Summary:</a:t>
            </a:r>
            <a:r>
              <a:rPr lang="en-IN" sz="3600" dirty="0"/>
              <a:t> Use mean, median, standard deviation, minimum and maximum values.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b="1" dirty="0"/>
              <a:t>Feature Distribution:</a:t>
            </a:r>
            <a:r>
              <a:rPr lang="en-IN" sz="3600" dirty="0"/>
              <a:t> Visualize the distributions of </a:t>
            </a:r>
            <a:r>
              <a:rPr lang="en-IN" sz="3600" b="1" dirty="0"/>
              <a:t>AQI and major pollutants</a:t>
            </a:r>
            <a:r>
              <a:rPr lang="en-IN" sz="3600" dirty="0"/>
              <a:t> using histograms/box plots.</a:t>
            </a:r>
          </a:p>
        </p:txBody>
      </p:sp>
      <p:sp>
        <p:nvSpPr>
          <p:cNvPr id="7" name="Freeform 7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9920" y="1298870"/>
            <a:ext cx="9205169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dirty="0"/>
              <a:t>Data Preprocessing</a:t>
            </a:r>
            <a:endParaRPr lang="en-US" sz="8177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836095" y="3009900"/>
            <a:ext cx="13072818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000" b="1" dirty="0"/>
              <a:t>Missing Values:</a:t>
            </a:r>
            <a:r>
              <a:rPr lang="en-IN" sz="3000" dirty="0"/>
              <a:t> Identify and handle missing values in pollutant and weather features.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000" b="1" dirty="0"/>
              <a:t>Duplicate Records:</a:t>
            </a:r>
            <a:r>
              <a:rPr lang="en-IN" sz="3000" dirty="0"/>
              <a:t> Detect and remove duplicate observations.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000" b="1" dirty="0"/>
              <a:t>Outliers:</a:t>
            </a:r>
            <a:r>
              <a:rPr lang="en-IN" sz="3000" dirty="0"/>
              <a:t> Check extreme values in AQI and pollutant features using statistical/visual methods.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000" b="1" dirty="0"/>
              <a:t>Incorrect Data:</a:t>
            </a:r>
            <a:r>
              <a:rPr lang="en-IN" sz="3000" dirty="0"/>
              <a:t> Identify invalid or inconsistent values and correct/remove them.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000" b="1" dirty="0"/>
              <a:t>Categorical Variables:</a:t>
            </a:r>
            <a:r>
              <a:rPr lang="en-IN" sz="3000" dirty="0"/>
              <a:t> Identify any categorical columns and encode them if required.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000" b="1" dirty="0"/>
              <a:t>Numerical Variables:</a:t>
            </a:r>
            <a:r>
              <a:rPr lang="en-IN" sz="3000" dirty="0"/>
              <a:t> Select numerical features such as </a:t>
            </a:r>
            <a:r>
              <a:rPr lang="en-IN" sz="3000" b="1" dirty="0"/>
              <a:t>PM2.5, PM10, NO₂, SO₂, CO, O₃, temperature, humidity, and wind speed</a:t>
            </a:r>
            <a:r>
              <a:rPr lang="en-IN" sz="3000" dirty="0"/>
              <a:t>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000" b="1" dirty="0"/>
              <a:t>Feature Scaling:</a:t>
            </a:r>
            <a:r>
              <a:rPr lang="en-IN" sz="3000" dirty="0"/>
              <a:t> Apply </a:t>
            </a:r>
            <a:r>
              <a:rPr lang="en-IN" sz="3000" b="1" dirty="0" err="1"/>
              <a:t>StandardScaler</a:t>
            </a:r>
            <a:r>
              <a:rPr lang="en-IN" sz="3000" dirty="0"/>
              <a:t> before Ridge/Lasso training so that regularization is applied fairly across features</a:t>
            </a: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86000" y="1550402"/>
            <a:ext cx="149352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b="1" dirty="0"/>
              <a:t>Exploratory Data Analysis (EDA)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42710" y="4097138"/>
            <a:ext cx="1275929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Histogram:</a:t>
            </a:r>
            <a:r>
              <a:rPr lang="en-IN" sz="3000" dirty="0"/>
              <a:t> </a:t>
            </a:r>
            <a:r>
              <a:rPr lang="en-IN" sz="3000" dirty="0" err="1"/>
              <a:t>Analyze</a:t>
            </a:r>
            <a:r>
              <a:rPr lang="en-IN" sz="3000" dirty="0"/>
              <a:t> the distribution of </a:t>
            </a:r>
            <a:r>
              <a:rPr lang="en-IN" sz="3000" b="1" dirty="0"/>
              <a:t>AQI, PM2.5, PM10 and other pollutants</a:t>
            </a:r>
            <a:r>
              <a:rPr lang="en-IN" sz="3000" dirty="0"/>
              <a:t>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Bar Chart:</a:t>
            </a:r>
            <a:r>
              <a:rPr lang="en-IN" sz="3000" dirty="0"/>
              <a:t> Compare average values of major pollutants.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Box Plot:</a:t>
            </a:r>
            <a:r>
              <a:rPr lang="en-IN" sz="3000" dirty="0"/>
              <a:t> Detect </a:t>
            </a:r>
            <a:r>
              <a:rPr lang="en-IN" sz="3000" b="1" dirty="0"/>
              <a:t>outliers</a:t>
            </a:r>
            <a:r>
              <a:rPr lang="en-IN" sz="3000" dirty="0"/>
              <a:t> in AQI and pollutant measurements.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Scatter Plot:</a:t>
            </a:r>
            <a:r>
              <a:rPr lang="en-IN" sz="3000" dirty="0"/>
              <a:t> Study relationships such as </a:t>
            </a:r>
            <a:r>
              <a:rPr lang="en-IN" sz="3000" b="1" dirty="0"/>
              <a:t>PM2.5 vs AQI</a:t>
            </a:r>
            <a:r>
              <a:rPr lang="en-IN" sz="3000" dirty="0"/>
              <a:t>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Correlation Heatmap:</a:t>
            </a:r>
            <a:r>
              <a:rPr lang="en-IN" sz="3000" dirty="0"/>
              <a:t> Identify relationships between pollutants, weather features and AQI.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Count Plot:</a:t>
            </a:r>
            <a:r>
              <a:rPr lang="en-IN" sz="3000" dirty="0"/>
              <a:t> Show the frequency of observations across available categories, if categorical variables are present.</a:t>
            </a: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48553" y="1120818"/>
            <a:ext cx="16230599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dirty="0"/>
              <a:t>Feature Selection / Feature Engineering</a:t>
            </a:r>
            <a:endParaRPr lang="en-US" sz="8177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141438" y="4097138"/>
            <a:ext cx="14003562" cy="5636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Features Used:</a:t>
            </a:r>
            <a:r>
              <a:rPr lang="en-IN" sz="3000" dirty="0"/>
              <a:t> PM2.5, PM10, NO₂, SO₂, CO, O₃, Temperature, Humidity and Wind Speed.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Target:</a:t>
            </a:r>
            <a:r>
              <a:rPr lang="en-IN" sz="3000" dirty="0"/>
              <a:t> </a:t>
            </a:r>
            <a:r>
              <a:rPr lang="en-IN" sz="3000" b="1" dirty="0"/>
              <a:t>AQI (Air Quality Index)</a:t>
            </a:r>
            <a:r>
              <a:rPr lang="en-IN" sz="3000" dirty="0"/>
              <a:t>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Features Removed:</a:t>
            </a:r>
            <a:r>
              <a:rPr lang="en-IN" sz="3000" dirty="0"/>
              <a:t> Any irrelevant/non-predictive columns such as </a:t>
            </a:r>
            <a:r>
              <a:rPr lang="en-IN" sz="3000" b="1" dirty="0"/>
              <a:t>record IDs or unnecessary metadata</a:t>
            </a:r>
            <a:r>
              <a:rPr lang="en-IN" sz="3000" dirty="0"/>
              <a:t>, if present in the dataset.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Why Removed:</a:t>
            </a:r>
            <a:r>
              <a:rPr lang="en-IN" sz="3000" dirty="0"/>
              <a:t> They do not contribute meaningful information to AQI prediction and may introduce noise.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Feature Engineering:</a:t>
            </a:r>
            <a:r>
              <a:rPr lang="en-IN" sz="3000" dirty="0"/>
              <a:t> Numerical features are </a:t>
            </a:r>
            <a:r>
              <a:rPr lang="en-IN" sz="3000" b="1" dirty="0"/>
              <a:t>scaled using </a:t>
            </a:r>
            <a:r>
              <a:rPr lang="en-IN" sz="3000" b="1" dirty="0" err="1"/>
              <a:t>StandardScaler</a:t>
            </a:r>
            <a:r>
              <a:rPr lang="en-IN" sz="3000" dirty="0"/>
              <a:t> before applying Ridge and Lasso Regression.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Feature Selection:</a:t>
            </a:r>
            <a:r>
              <a:rPr lang="en-IN" sz="3000" dirty="0"/>
              <a:t> </a:t>
            </a:r>
            <a:r>
              <a:rPr lang="en-IN" sz="3000" b="1" dirty="0"/>
              <a:t>Lasso (L1 regularization)</a:t>
            </a:r>
            <a:r>
              <a:rPr lang="en-IN" sz="3000" dirty="0"/>
              <a:t> can automatically reduce less-important feature coefficients to zero, helping select relevant features</a:t>
            </a:r>
          </a:p>
          <a:p>
            <a:pPr marL="457200" indent="-457200" algn="just">
              <a:lnSpc>
                <a:spcPts val="4576"/>
              </a:lnSpc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00641" y="859358"/>
            <a:ext cx="9205169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dirty="0"/>
              <a:t>Train-Test Split</a:t>
            </a:r>
            <a:endParaRPr lang="en-US" sz="8177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443857" y="3102734"/>
            <a:ext cx="11400286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Training Data – 80%:</a:t>
            </a:r>
            <a:r>
              <a:rPr lang="en-IN" sz="3000" dirty="0"/>
              <a:t> Used to train the </a:t>
            </a:r>
            <a:r>
              <a:rPr lang="en-IN" sz="3000" b="1" dirty="0"/>
              <a:t>Ridge and Lasso Regression</a:t>
            </a:r>
            <a:r>
              <a:rPr lang="en-IN" sz="3000" dirty="0"/>
              <a:t> models.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Testing Data – 20%:</a:t>
            </a:r>
            <a:r>
              <a:rPr lang="en-IN" sz="3000" dirty="0"/>
              <a:t> Kept separate and used to evaluate the model on </a:t>
            </a:r>
            <a:r>
              <a:rPr lang="en-IN" sz="3000" b="1" dirty="0"/>
              <a:t>unseen data</a:t>
            </a:r>
            <a:r>
              <a:rPr lang="en-IN" sz="3000" dirty="0"/>
              <a:t>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Input Features:</a:t>
            </a:r>
            <a:r>
              <a:rPr lang="en-IN" sz="3000" dirty="0"/>
              <a:t> PM2.5, PM10, NO₂, SO₂, CO, O₃, Temperature, Humidity and Wind Speed.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Target:</a:t>
            </a:r>
            <a:r>
              <a:rPr lang="en-IN" sz="3000" dirty="0"/>
              <a:t> </a:t>
            </a:r>
            <a:r>
              <a:rPr lang="en-IN" sz="3000" b="1" dirty="0"/>
              <a:t>AQI</a:t>
            </a:r>
            <a:r>
              <a:rPr lang="en-IN" sz="3000" dirty="0"/>
              <a:t>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Purpose:</a:t>
            </a:r>
            <a:r>
              <a:rPr lang="en-IN" sz="3000" dirty="0"/>
              <a:t> Measure how well the trained model generalizes to new AQI data.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Evaluation Metrics:</a:t>
            </a:r>
            <a:r>
              <a:rPr lang="en-IN" sz="3000" dirty="0"/>
              <a:t> </a:t>
            </a:r>
            <a:r>
              <a:rPr lang="en-IN" sz="3000" b="1" dirty="0"/>
              <a:t>MAE, RMSE and R²</a:t>
            </a:r>
            <a:endParaRPr lang="en-IN" sz="3000" dirty="0"/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38800" y="307549"/>
            <a:ext cx="9205169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b="1" dirty="0"/>
              <a:t>Model Building</a:t>
            </a: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B5300E-C24C-BA81-29B4-A32A0F83F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559" y="1593316"/>
            <a:ext cx="15297150" cy="7648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42881" y="939710"/>
            <a:ext cx="9205169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dirty="0"/>
              <a:t>Model Evaluation</a:t>
            </a:r>
            <a:endParaRPr lang="en-US" sz="8177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443857" y="2845932"/>
            <a:ext cx="11400286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IN" sz="3000" dirty="0"/>
              <a:t>Since your project predicts a </a:t>
            </a:r>
            <a:r>
              <a:rPr lang="en-IN" sz="3000" b="1" dirty="0"/>
              <a:t>continuous AQI value</a:t>
            </a:r>
            <a:r>
              <a:rPr lang="en-IN" sz="3000" dirty="0"/>
              <a:t>, it is a </a:t>
            </a:r>
            <a:r>
              <a:rPr lang="en-IN" sz="3000" b="1" dirty="0"/>
              <a:t>regression problem</a:t>
            </a:r>
            <a:r>
              <a:rPr lang="en-IN" sz="3000" dirty="0"/>
              <a:t>, so classification metrics such as Accuracy, Precision, Recall, F1-score, Confusion Matrix and ROC-AUC are </a:t>
            </a:r>
            <a:r>
              <a:rPr lang="en-IN" sz="3000" b="1" dirty="0"/>
              <a:t>not appropriate</a:t>
            </a:r>
            <a:r>
              <a:rPr lang="en-IN" sz="3000" dirty="0"/>
              <a:t>.</a:t>
            </a:r>
          </a:p>
          <a:p>
            <a:pPr algn="just"/>
            <a:r>
              <a:rPr lang="en-IN" sz="3000" b="1" dirty="0"/>
              <a:t>Regression Metrics Used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MAE (Mean Absolute Error):</a:t>
            </a:r>
            <a:r>
              <a:rPr lang="en-IN" sz="3000" dirty="0"/>
              <a:t> Measures the average absolute prediction error.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RMSE (Root Mean Squared Error):</a:t>
            </a:r>
            <a:r>
              <a:rPr lang="en-IN" sz="3000" dirty="0"/>
              <a:t> Gives more weight to larger prediction errors.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R² Score:</a:t>
            </a:r>
            <a:r>
              <a:rPr lang="en-IN" sz="3000" dirty="0"/>
              <a:t> Measures how well the model explains the variation in AQI.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Model Comparison:</a:t>
            </a:r>
            <a:r>
              <a:rPr lang="en-IN" sz="3000" dirty="0"/>
              <a:t> Compare </a:t>
            </a:r>
            <a:r>
              <a:rPr lang="en-IN" sz="3000" b="1" dirty="0"/>
              <a:t>Ridge vs Lasso</a:t>
            </a:r>
            <a:r>
              <a:rPr lang="en-IN" sz="3000" dirty="0"/>
              <a:t> using MAE, RMSE and R².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3000" b="1" dirty="0"/>
              <a:t>Goal:</a:t>
            </a:r>
            <a:r>
              <a:rPr lang="en-IN" sz="3000" dirty="0"/>
              <a:t> Select the model with lower prediction errors and stronger R² performance.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8690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843</Words>
  <Application>Microsoft Office PowerPoint</Application>
  <PresentationFormat>Custom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Alexandria Bold</vt:lpstr>
      <vt:lpstr>Garet Bold</vt:lpstr>
      <vt:lpstr>Garet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deekshitha dhatrika</cp:lastModifiedBy>
  <cp:revision>4</cp:revision>
  <dcterms:created xsi:type="dcterms:W3CDTF">2006-08-16T00:00:00Z</dcterms:created>
  <dcterms:modified xsi:type="dcterms:W3CDTF">2026-10-05T04:21:20Z</dcterms:modified>
  <dc:identifier>DAHViIvS9r8</dc:identifier>
</cp:coreProperties>
</file>